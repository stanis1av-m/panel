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7" r:id="rId1"/>
  </p:sldMasterIdLst>
  <p:notesMasterIdLst>
    <p:notesMasterId r:id="rId13"/>
  </p:notesMasterIdLst>
  <p:sldIdLst>
    <p:sldId id="256" r:id="rId2"/>
    <p:sldId id="280" r:id="rId3"/>
    <p:sldId id="283" r:id="rId4"/>
    <p:sldId id="289" r:id="rId5"/>
    <p:sldId id="285" r:id="rId6"/>
    <p:sldId id="290" r:id="rId7"/>
    <p:sldId id="286" r:id="rId8"/>
    <p:sldId id="291" r:id="rId9"/>
    <p:sldId id="292" r:id="rId10"/>
    <p:sldId id="287" r:id="rId11"/>
    <p:sldId id="293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070" autoAdjust="0"/>
  </p:normalViewPr>
  <p:slideViewPr>
    <p:cSldViewPr snapToGrid="0">
      <p:cViewPr varScale="1">
        <p:scale>
          <a:sx n="153" d="100"/>
          <a:sy n="153" d="100"/>
        </p:scale>
        <p:origin x="54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6EE6B6-5D61-40ED-9AD8-BBAAB708A29C}" type="datetimeFigureOut">
              <a:rPr lang="ru-RU" smtClean="0"/>
              <a:t>18.06.2026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A8AE37-CCB3-4251-BDA7-63C2C6DF0E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0036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5CDF79-7F47-40AF-8AE4-BF0917872E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5D9C8E2-D0E0-4691-9C16-850CD6BDB5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EF513A-04FF-4832-8E0A-BF35FEBF9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FAA1E-80B2-47FC-A439-DF804E9D9EF2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8D3672B-22D5-4EA4-B4FB-9FF8F160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59BAE0-ED5F-4BF2-9273-2C342A85C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11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3FCC9B-AF42-40B7-BE90-6AF0F1935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CE9877-8C0C-4A1C-B242-832AE76DC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01870BF-92E7-4F23-9797-31701361A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CADCB-B3E7-403E-9F28-1D76587513AB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FA47B4-5D72-40BD-9FC9-294AD5712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610B89-FBC2-4CFB-BD5E-6265F52A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6085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13B997-99D4-4CC4-A040-EEDF01B9A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029DD27-117C-4973-8F91-1395B14468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7D8B88C-D264-44DF-9319-4D6B90E48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A8279-5191-4BAE-9EF8-4DB29F9258C6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96D805-FA9F-4E82-AE4F-AD71C519D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B63EA7-CD11-4F57-8826-6425231D5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945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A08E7F-1388-4AD7-8FE7-AFFB1F8A5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1AECFC-306A-4548-A81B-144AC5D3A5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E594844-1F4F-4B23-8448-5839B9E065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5753B0A-63C8-41B4-A914-923EC8690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8281A-9A6F-4A88-B468-B3A1D7B194F7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77FA8E-1994-4FCD-B419-EDDF9B593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E65EA3F-35EF-45BC-BD42-54A2EDEEC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32633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E42965-A0B4-4A5C-8588-C5BD6A41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068769C-40FE-46F9-8A0D-576DDDEE8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1527DC0-D2A0-4867-90E8-8A410E557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FCB7FDF-5CEF-462E-9784-D3351BD6F4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2ADA772-195F-4CD9-AF30-B97A97AF52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070DFE5-4B2C-4138-91CF-ED2C59E4B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29192-AFCE-4469-956C-DD6A26323BD2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CB53ECC-4AC2-4B27-9749-053C1446F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EB8563A-11AF-4B88-BA42-C8CE67CB1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583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184619-141E-439A-A906-5E765728A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B96285C-F925-4E60-B411-77F536F25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DBF8F-C836-45B2-B99E-5F8575814571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5F3382A-E3B9-4F39-A981-D40D85701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5E45A57-235E-4D0C-9F19-1DC8223FB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5840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3EC3895-6461-49D8-92C3-805432C42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2ED32-C5DC-4D3C-A25F-1D5F93D77969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9247659-A454-449C-845F-917A2C5B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6A28733-F704-418A-8F11-312531CB4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44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B943FC-64FA-4F76-A291-F717BCA1A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6FFE4A0-0369-4409-8213-79FF0C735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DA66F0-7DB7-4372-9F80-B6BACF1B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E5F11C0-9319-45BB-BDB6-0660E84A3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F4851-3AFF-4C4A-8932-AEC563C7B274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C4375B-B97A-4388-9FFB-7E54E1D8C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DEFA227-46A0-49E9-9B44-C829DD548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4488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06F6C6-606A-48E7-93BB-3652214BB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65596B1-5C7D-4B23-A266-70DBDAC7FC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EDD1CE3-823A-41D0-8B07-D86F22C57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EF8BD61-C0A6-443E-BA9A-163E17CB3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90837-CE8E-44C3-AC8B-0895B1360BC7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7D31E-33BC-45EA-9301-585DC714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E60B6C2-C750-4FF4-BFB6-64412161D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217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284DCA-1C8B-40E3-BE70-828B6295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75C3595-C932-4A40-97DE-47E76E4A0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4BFE6B-9542-4190-8AA7-4C730DC1D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6F21A-7023-405A-B53C-76939084BD13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D2A41E-A1A3-4C06-86DD-D1B0804A5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EA9DEA-C934-4923-BFB7-3FB1055A3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053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661BA69-4655-43B1-80C0-B055FE057C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54B0885-0514-4FE1-A88F-7A145394F3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D9918DF-48DA-4209-870C-43FA4D048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6F7BE-13D7-4D31-A19B-6F258E16A078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1B0161-64A5-4681-BED3-3A5D2C636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F35047-AB13-4273-8AF6-DDFB049FB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8281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1B369A-0C92-4854-B1BF-8514979B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CA0576-5858-4945-AA58-266147257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9BBC22-0E09-4C3A-AA03-9074D9773B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CD544-2697-4F8C-AC2D-73D47FDB3DD3}" type="datetime1">
              <a:rPr lang="en-US" smtClean="0"/>
              <a:t>6/18/2026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502B4D3-5AF9-499D-9C65-FF96C17BB4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1152BB-6AA5-4DCA-B876-72235A50E6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026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623303" y="5392016"/>
            <a:ext cx="5135559" cy="549338"/>
          </a:xfrm>
        </p:spPr>
        <p:txBody>
          <a:bodyPr>
            <a:normAutofit/>
          </a:bodyPr>
          <a:lstStyle/>
          <a:p>
            <a:pPr algn="l"/>
            <a:r>
              <a:rPr lang="ru-RU" b="1" dirty="0">
                <a:solidFill>
                  <a:schemeClr val="bg1"/>
                </a:solidFill>
              </a:rPr>
              <a:t>Выполнил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ru-RU" b="1" dirty="0">
                <a:solidFill>
                  <a:schemeClr val="bg1"/>
                </a:solidFill>
              </a:rPr>
              <a:t>Мирошниченко С. С.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031250" y="2017439"/>
            <a:ext cx="918410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/>
              </a:rPr>
              <a:t>Курсовой проект по теме </a:t>
            </a:r>
            <a:b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/>
              </a:rPr>
            </a:b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/>
              </a:rPr>
              <a:t>“</a:t>
            </a:r>
            <a:r>
              <a:rPr lang="ru-RU" sz="3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Разработка программного модуля для учёта товаров</a:t>
            </a:r>
            <a:r>
              <a:rPr lang="en-US" sz="3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”</a:t>
            </a:r>
            <a:endParaRPr lang="ru-RU" sz="3600" dirty="0"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3048000" y="133252"/>
            <a:ext cx="6096000" cy="181588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ПРАВИТЕЛЬСТВО САНКТ-ПЕТЕРБУРГА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КОМИТЕТ ПО НАУКЕ И ВЫСШЕЙ ШКОЛЕ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Санкт-Петербургское государственное бюджетное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профессиональное образовательное учреждение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«ПЕТРОВСКИЙ КОЛЛЕДЖ»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(СПб ГБПОУ «Петровский колледж»)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Отделение информационных технологий</a:t>
            </a:r>
            <a:endParaRPr lang="ru-RU" sz="16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6623303" y="5941354"/>
            <a:ext cx="481676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bg1"/>
                </a:solidFill>
                <a:ea typeface="Verdana"/>
              </a:rPr>
              <a:t>Руководитель: </a:t>
            </a:r>
            <a:r>
              <a:rPr lang="ru-RU" sz="2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Т.С. Спиридонова</a:t>
            </a:r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3526146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-915362" y="0"/>
            <a:ext cx="10396728" cy="1009218"/>
          </a:xfrm>
        </p:spPr>
        <p:txBody>
          <a:bodyPr>
            <a:normAutofit/>
          </a:bodyPr>
          <a:lstStyle/>
          <a:p>
            <a:pPr algn="ctr"/>
            <a:r>
              <a:rPr lang="ru-RU" sz="5400" dirty="0"/>
              <a:t>Цель и задачи практики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1154069" y="1368562"/>
            <a:ext cx="10396728" cy="397421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3600" dirty="0"/>
              <a:t>Цель – разработать </a:t>
            </a:r>
            <a:r>
              <a:rPr lang="en-US" sz="3600" dirty="0"/>
              <a:t>WPF </a:t>
            </a:r>
            <a:r>
              <a:rPr lang="ru-RU" sz="3600" dirty="0"/>
              <a:t>приложение для автоматизации учета товаров.</a:t>
            </a:r>
          </a:p>
          <a:p>
            <a:pPr marL="0" indent="0">
              <a:buNone/>
            </a:pPr>
            <a:r>
              <a:rPr lang="ru-RU" sz="3600" dirty="0"/>
              <a:t>Задачи:</a:t>
            </a:r>
          </a:p>
          <a:p>
            <a:pPr marL="514350" indent="-514350">
              <a:buAutoNum type="arabicPeriod"/>
            </a:pPr>
            <a:r>
              <a:rPr lang="ru-RU" sz="3600" dirty="0"/>
              <a:t>Проанализировать рынок</a:t>
            </a:r>
          </a:p>
          <a:p>
            <a:pPr marL="514350" indent="-514350">
              <a:buAutoNum type="arabicPeriod"/>
            </a:pPr>
            <a:r>
              <a:rPr lang="ru-RU" sz="3600" dirty="0"/>
              <a:t>Спроектировать базу данных</a:t>
            </a:r>
          </a:p>
          <a:p>
            <a:pPr marL="514350" indent="-514350">
              <a:buAutoNum type="arabicPeriod"/>
            </a:pPr>
            <a:r>
              <a:rPr lang="ru-RU" sz="3600" dirty="0"/>
              <a:t>Разработать десктоп-приложение</a:t>
            </a:r>
          </a:p>
          <a:p>
            <a:pPr marL="514350" indent="-514350">
              <a:buAutoNum type="arabicPeriod"/>
            </a:pPr>
            <a:r>
              <a:rPr lang="ru-RU" sz="3600" dirty="0"/>
              <a:t>Протестировать готовое комплексное решение 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>
          <a:xfrm>
            <a:off x="9276426" y="6492875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2</a:t>
            </a:fld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83413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37147" y="1365626"/>
            <a:ext cx="63005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/>
              <a:t>Название системы – </a:t>
            </a:r>
            <a:r>
              <a:rPr lang="en-US" sz="3200" dirty="0"/>
              <a:t>7Apex</a:t>
            </a:r>
          </a:p>
          <a:p>
            <a:pPr marL="0" indent="0">
              <a:buNone/>
            </a:pPr>
            <a:r>
              <a:rPr lang="ru-RU" sz="3200" dirty="0"/>
              <a:t>Основная деятельность – продажа. профессионального оборудования для походов и организация туров.</a:t>
            </a:r>
          </a:p>
          <a:p>
            <a:pPr marL="0" indent="0">
              <a:buNone/>
            </a:pPr>
            <a:r>
              <a:rPr lang="ru-RU" sz="3200" dirty="0"/>
              <a:t>Цель создания системы – автоматизация процессов </a:t>
            </a:r>
            <a:r>
              <a:rPr lang="ru-RU" sz="3200" dirty="0" err="1"/>
              <a:t>интернет-торговли</a:t>
            </a:r>
            <a:r>
              <a:rPr lang="ru-RU" sz="3200" dirty="0"/>
              <a:t>.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68804" y="180292"/>
            <a:ext cx="4318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Описание предметной области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72337" y="6492875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3</a:t>
            </a:fld>
            <a:endParaRPr lang="en-US" sz="1600" dirty="0">
              <a:solidFill>
                <a:schemeClr val="bg1"/>
              </a:solidFill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A95217E2-EE2B-4A96-2322-2BE7041C5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054675"/>
              </p:ext>
            </p:extLst>
          </p:nvPr>
        </p:nvGraphicFramePr>
        <p:xfrm>
          <a:off x="4759890" y="4380935"/>
          <a:ext cx="7586598" cy="1851660"/>
        </p:xfrm>
        <a:graphic>
          <a:graphicData uri="http://schemas.openxmlformats.org/drawingml/2006/table">
            <a:tbl>
              <a:tblPr/>
              <a:tblGrid>
                <a:gridCol w="3793299">
                  <a:extLst>
                    <a:ext uri="{9D8B030D-6E8A-4147-A177-3AD203B41FA5}">
                      <a16:colId xmlns:a16="http://schemas.microsoft.com/office/drawing/2014/main" val="2219828079"/>
                    </a:ext>
                  </a:extLst>
                </a:gridCol>
                <a:gridCol w="3793299">
                  <a:extLst>
                    <a:ext uri="{9D8B030D-6E8A-4147-A177-3AD203B41FA5}">
                      <a16:colId xmlns:a16="http://schemas.microsoft.com/office/drawing/2014/main" val="21508488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Администратор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Полный доступ: добавление, редактирование, удаление товаров, управление пользователями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205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Менеджер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Добавление и редактирование товаров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129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Пользователь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quote-cjk-patch"/>
                        </a:rPr>
                        <a:t>Просмотр товаров, оформление заказов, личный кабинет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607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6693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01DD46-C366-90D6-01B8-E7C4C06FF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4767198" cy="906267"/>
          </a:xfrm>
        </p:spPr>
        <p:txBody>
          <a:bodyPr>
            <a:norm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Анализ существующих аналогов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79A6D5AF-CC6F-370D-EC45-43FD1C5E5E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0204" y="2088159"/>
            <a:ext cx="4505194" cy="2522908"/>
          </a:xfr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2E6E90-7770-5C15-5BB6-E666853B3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17488" y="6492875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4</a:t>
            </a:fld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663F212-A3C3-6744-9728-17B945568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503" y="1901040"/>
            <a:ext cx="3317308" cy="305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940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E29852B-3D3C-4853-846D-BE5633367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81406"/>
            <a:ext cx="4563818" cy="4563818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200" y="12200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Инструментальные и системные программные средства</a:t>
            </a:r>
            <a:endParaRPr lang="ru-RU" dirty="0"/>
          </a:p>
        </p:txBody>
      </p:sp>
      <p:pic>
        <p:nvPicPr>
          <p:cNvPr id="7" name="Picture 8" descr="Picture background">
            <a:extLst>
              <a:ext uri="{FF2B5EF4-FFF2-40B4-BE49-F238E27FC236}">
                <a16:creationId xmlns:a16="http://schemas.microsoft.com/office/drawing/2014/main" id="{AEEB2B62-F05B-48A6-B151-90A0AED4D2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4874" y="1296522"/>
            <a:ext cx="4762496" cy="2677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8248" y="3012688"/>
            <a:ext cx="2110264" cy="2722016"/>
          </a:xfrm>
          <a:prstGeom prst="rect">
            <a:avLst/>
          </a:prstGeom>
        </p:spPr>
      </p:pic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>
          <a:xfrm>
            <a:off x="9079282" y="6492875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5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388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1E8D81-4D28-4FA6-086D-EAAEC7EAE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674" y="-67023"/>
            <a:ext cx="5468655" cy="1325563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Проектирование ПО информационной системы</a:t>
            </a:r>
            <a:endParaRPr lang="ru-RU" sz="2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7BDD84F-B17A-1133-E88E-B2A72C9FD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6863" y="6486003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6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BCA38F36-5323-63EB-2549-C8EF8FBD3A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1304446"/>
            <a:ext cx="7983254" cy="5051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3634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60300" y="228418"/>
            <a:ext cx="42627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Функции </a:t>
            </a:r>
            <a:r>
              <a:rPr lang="en-US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desktop </a:t>
            </a:r>
            <a:r>
              <a:rPr lang="ru-RU" b="1" dirty="0">
                <a:solidFill>
                  <a:schemeClr val="bg1"/>
                </a:solidFill>
                <a:latin typeface="Verdana"/>
                <a:ea typeface="Verdana"/>
                <a:cs typeface="Times New Roman"/>
              </a:rPr>
              <a:t>приложения</a:t>
            </a:r>
            <a:endParaRPr lang="ru-RU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0143940"/>
              </p:ext>
            </p:extLst>
          </p:nvPr>
        </p:nvGraphicFramePr>
        <p:xfrm>
          <a:off x="1925054" y="1493718"/>
          <a:ext cx="7957264" cy="48183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927">
                  <a:extLst>
                    <a:ext uri="{9D8B030D-6E8A-4147-A177-3AD203B41FA5}">
                      <a16:colId xmlns:a16="http://schemas.microsoft.com/office/drawing/2014/main" val="2793986795"/>
                    </a:ext>
                  </a:extLst>
                </a:gridCol>
                <a:gridCol w="5958337">
                  <a:extLst>
                    <a:ext uri="{9D8B030D-6E8A-4147-A177-3AD203B41FA5}">
                      <a16:colId xmlns:a16="http://schemas.microsoft.com/office/drawing/2014/main" val="568816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Функция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522701"/>
                  </a:ext>
                </a:extLst>
              </a:tr>
              <a:tr h="149005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Просмотр каталога с фильтрацией п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663828575"/>
                  </a:ext>
                </a:extLst>
              </a:tr>
              <a:tr h="740621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Поиск товаров</a:t>
                      </a:r>
                      <a:r>
                        <a:rPr lang="ru-RU" sz="1800" b="0" kern="1200" baseline="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по названию и описанию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9727301"/>
                  </a:ext>
                </a:extLst>
              </a:tr>
              <a:tr h="740621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Сортировка товаров</a:t>
                      </a:r>
                      <a:r>
                        <a:rPr lang="ru-RU" sz="1800" b="0" kern="1200" baseline="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(по цене, алфавиту, популярности)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499615"/>
                  </a:ext>
                </a:extLst>
              </a:tr>
              <a:tr h="740621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Регистрация и авторизация пользователей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431005"/>
                  </a:ext>
                </a:extLst>
              </a:tr>
              <a:tr h="740621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b="0" kern="1200" dirty="0">
                          <a:solidFill>
                            <a:schemeClr val="dk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Добавление товаров корзину и формирование чека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21071"/>
                  </a:ext>
                </a:extLst>
              </a:tr>
            </a:tbl>
          </a:graphicData>
        </a:graphic>
      </p:graphicFrame>
      <p:sp>
        <p:nvSpPr>
          <p:cNvPr id="7" name="Прямоугольник 6"/>
          <p:cNvSpPr/>
          <p:nvPr/>
        </p:nvSpPr>
        <p:spPr>
          <a:xfrm>
            <a:off x="3224463" y="1124386"/>
            <a:ext cx="47388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/>
              <a:t>Функции веб-приложения (клиентская часть)</a:t>
            </a:r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>
          <a:xfrm>
            <a:off x="8872603" y="6492875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2079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37215C-FF62-B8D1-8CE3-ECA54CA20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887" y="-252413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Программа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91BB9CE8-0729-E97F-38D9-DECCD6724E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73198" y="1253331"/>
            <a:ext cx="6445604" cy="4351338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A7DE575-49FD-6909-D52D-757774815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8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2974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B3EC72-CF89-4086-3AC4-C57602E59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729" y="-297657"/>
            <a:ext cx="10515600" cy="1325563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Программа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D8F3A216-7209-6EE0-F562-9635AB8631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3681" y="815409"/>
            <a:ext cx="5888858" cy="5677466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0BEBF48-5AAF-C16F-9167-F3586BBE4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75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9</a:t>
            </a:fld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751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-268769"/>
            <a:ext cx="10515600" cy="1325563"/>
          </a:xfrm>
        </p:spPr>
        <p:txBody>
          <a:bodyPr>
            <a:normAutofit/>
          </a:bodyPr>
          <a:lstStyle/>
          <a:p>
            <a:r>
              <a:rPr lang="ru-RU" sz="5400" dirty="0">
                <a:solidFill>
                  <a:schemeClr val="bg1"/>
                </a:solidFill>
              </a:rPr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0316" y="139104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4400" dirty="0"/>
              <a:t>В ходе разработал программное решение, все поставленные задачи были выполнены.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872602" y="6492875"/>
            <a:ext cx="2743200" cy="365125"/>
          </a:xfrm>
        </p:spPr>
        <p:txBody>
          <a:bodyPr/>
          <a:lstStyle/>
          <a:p>
            <a:fld id="{D57F1E4F-1CFF-5643-939E-217C01CDF565}" type="slidenum">
              <a:rPr lang="en-US" sz="1600" smtClean="0">
                <a:solidFill>
                  <a:schemeClr val="bg1"/>
                </a:solidFill>
              </a:rPr>
              <a:pPr/>
              <a:t>10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5080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AB140B-CF52-901F-CEE2-0F4F1ED53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EBC42EC-E692-4158-E63A-7E0990651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23303" y="5392016"/>
            <a:ext cx="5135559" cy="549338"/>
          </a:xfrm>
        </p:spPr>
        <p:txBody>
          <a:bodyPr>
            <a:normAutofit/>
          </a:bodyPr>
          <a:lstStyle/>
          <a:p>
            <a:pPr algn="l"/>
            <a:r>
              <a:rPr lang="ru-RU" b="1" dirty="0">
                <a:solidFill>
                  <a:schemeClr val="bg1"/>
                </a:solidFill>
              </a:rPr>
              <a:t>Выполнил</a:t>
            </a:r>
            <a:r>
              <a:rPr lang="en-US" b="1" dirty="0">
                <a:solidFill>
                  <a:schemeClr val="bg1"/>
                </a:solidFill>
              </a:rPr>
              <a:t>: </a:t>
            </a:r>
            <a:r>
              <a:rPr lang="ru-RU" b="1" dirty="0">
                <a:solidFill>
                  <a:schemeClr val="bg1"/>
                </a:solidFill>
              </a:rPr>
              <a:t>Мирошниченко С. С.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5F72479-640E-9FE4-A26D-25917F68902D}"/>
              </a:ext>
            </a:extLst>
          </p:cNvPr>
          <p:cNvSpPr/>
          <p:nvPr/>
        </p:nvSpPr>
        <p:spPr>
          <a:xfrm>
            <a:off x="2031250" y="2017439"/>
            <a:ext cx="918410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/>
              </a:rPr>
              <a:t>Курсовой проект по теме </a:t>
            </a:r>
            <a:b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/>
              </a:rPr>
            </a:b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/>
              </a:rPr>
              <a:t>“</a:t>
            </a:r>
            <a:r>
              <a:rPr lang="ru-RU" sz="3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Разработка программного модуля для учёта товаров</a:t>
            </a:r>
            <a:r>
              <a:rPr lang="en-US" sz="3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”</a:t>
            </a:r>
            <a:endParaRPr lang="ru-RU" sz="3600" dirty="0"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15645D5-339F-8212-43DA-18CBC54507F1}"/>
              </a:ext>
            </a:extLst>
          </p:cNvPr>
          <p:cNvSpPr/>
          <p:nvPr/>
        </p:nvSpPr>
        <p:spPr>
          <a:xfrm>
            <a:off x="3048000" y="133252"/>
            <a:ext cx="6096000" cy="181588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ПРАВИТЕЛЬСТВО САНКТ-ПЕТЕРБУРГА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КОМИТЕТ ПО НАУКЕ И ВЫСШЕЙ ШКОЛЕ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Санкт-Петербургское государственное бюджетное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профессиональное образовательное учреждение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«ПЕТРОВСКИЙ КОЛЛЕДЖ»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(СПб ГБПОУ «Петровский колледж»)</a:t>
            </a:r>
            <a:endParaRPr lang="ru-RU" sz="1600" dirty="0"/>
          </a:p>
          <a:p>
            <a:pPr algn="ctr">
              <a:defRPr/>
            </a:pPr>
            <a:r>
              <a:rPr lang="ru-RU" sz="1600" dirty="0">
                <a:solidFill>
                  <a:srgbClr val="0070C0"/>
                </a:solidFill>
                <a:latin typeface="Verdana"/>
                <a:ea typeface="Verdana"/>
                <a:cs typeface="Times New Roman"/>
              </a:rPr>
              <a:t>Отделение информационных технологий</a:t>
            </a:r>
            <a:endParaRPr lang="ru-RU" sz="16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391A6E0-9809-BC5A-1685-6C24B51A66D9}"/>
              </a:ext>
            </a:extLst>
          </p:cNvPr>
          <p:cNvSpPr/>
          <p:nvPr/>
        </p:nvSpPr>
        <p:spPr>
          <a:xfrm>
            <a:off x="6623303" y="5941354"/>
            <a:ext cx="481676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bg1"/>
                </a:solidFill>
                <a:ea typeface="Verdana"/>
              </a:rPr>
              <a:t>Руководитель: </a:t>
            </a:r>
            <a:r>
              <a:rPr lang="ru-RU" sz="2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Т.С. Спиридонова</a:t>
            </a:r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4194997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Тема1" id="{9F4CC347-29A3-4293-864F-E25A6E169458}" vid="{F86C687B-A777-40CC-9C0C-5B47488FAB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Тема1</Template>
  <TotalTime>7426</TotalTime>
  <Words>275</Words>
  <Application>Microsoft Office PowerPoint</Application>
  <PresentationFormat>Широкоэкранный</PresentationFormat>
  <Paragraphs>67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quote-cjk-patch</vt:lpstr>
      <vt:lpstr>Times New Roman</vt:lpstr>
      <vt:lpstr>Verdana</vt:lpstr>
      <vt:lpstr>Тема1</vt:lpstr>
      <vt:lpstr>Презентация PowerPoint</vt:lpstr>
      <vt:lpstr>Цель и задачи практики</vt:lpstr>
      <vt:lpstr>Презентация PowerPoint</vt:lpstr>
      <vt:lpstr>Анализ существующих аналогов</vt:lpstr>
      <vt:lpstr>Презентация PowerPoint</vt:lpstr>
      <vt:lpstr>Проектирование ПО информационной системы</vt:lpstr>
      <vt:lpstr>Презентация PowerPoint</vt:lpstr>
      <vt:lpstr>Программа</vt:lpstr>
      <vt:lpstr>Программа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Маркетинговые исследования рынка образовательных услуг</dc:title>
  <dc:creator>Сидякина Анастасия Алексеевна</dc:creator>
  <cp:lastModifiedBy>Stanislav M</cp:lastModifiedBy>
  <cp:revision>110</cp:revision>
  <dcterms:created xsi:type="dcterms:W3CDTF">2023-01-30T07:02:12Z</dcterms:created>
  <dcterms:modified xsi:type="dcterms:W3CDTF">2026-06-17T23:02:09Z</dcterms:modified>
</cp:coreProperties>
</file>