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67" r:id="rId1"/>
  </p:sldMasterIdLst>
  <p:notesMasterIdLst>
    <p:notesMasterId r:id="rId15"/>
  </p:notesMasterIdLst>
  <p:sldIdLst>
    <p:sldId id="256" r:id="rId2"/>
    <p:sldId id="280" r:id="rId3"/>
    <p:sldId id="283" r:id="rId4"/>
    <p:sldId id="289" r:id="rId5"/>
    <p:sldId id="285" r:id="rId6"/>
    <p:sldId id="290" r:id="rId7"/>
    <p:sldId id="286" r:id="rId8"/>
    <p:sldId id="294" r:id="rId9"/>
    <p:sldId id="295" r:id="rId10"/>
    <p:sldId id="291" r:id="rId11"/>
    <p:sldId id="292" r:id="rId12"/>
    <p:sldId id="287" r:id="rId13"/>
    <p:sldId id="297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070" autoAdjust="0"/>
  </p:normalViewPr>
  <p:slideViewPr>
    <p:cSldViewPr snapToGrid="0">
      <p:cViewPr>
        <p:scale>
          <a:sx n="75" d="100"/>
          <a:sy n="75" d="100"/>
        </p:scale>
        <p:origin x="1896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6EE6B6-5D61-40ED-9AD8-BBAAB708A29C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A8AE37-CCB3-4251-BDA7-63C2C6DF0E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036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5CDF79-7F47-40AF-8AE4-BF0917872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5D9C8E2-D0E0-4691-9C16-850CD6BDB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EF513A-04FF-4832-8E0A-BF35FEBF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FAA1E-80B2-47FC-A439-DF804E9D9EF2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D3672B-22D5-4EA4-B4FB-9FF8F160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59BAE0-ED5F-4BF2-9273-2C342A85C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11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FCC9B-AF42-40B7-BE90-6AF0F1935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CE9877-8C0C-4A1C-B242-832AE76DC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1870BF-92E7-4F23-9797-31701361A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CADCB-B3E7-403E-9F28-1D76587513AB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FA47B4-5D72-40BD-9FC9-294AD5712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610B89-FBC2-4CFB-BD5E-6265F52AC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085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13B997-99D4-4CC4-A040-EEDF01B9A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29DD27-117C-4973-8F91-1395B1446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D8B88C-D264-44DF-9319-4D6B90E48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A8279-5191-4BAE-9EF8-4DB29F9258C6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96D805-FA9F-4E82-AE4F-AD71C519D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B63EA7-CD11-4F57-8826-6425231D5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945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A08E7F-1388-4AD7-8FE7-AFFB1F8A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1AECFC-306A-4548-A81B-144AC5D3A5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E594844-1F4F-4B23-8448-5839B9E06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753B0A-63C8-41B4-A914-923EC8690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8281A-9A6F-4A88-B468-B3A1D7B194F7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77FA8E-1994-4FCD-B419-EDDF9B593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65EA3F-35EF-45BC-BD42-54A2EDEEC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263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E42965-A0B4-4A5C-8588-C5BD6A41D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68769C-40FE-46F9-8A0D-576DDDEE8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1527DC0-D2A0-4867-90E8-8A410E557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FCB7FDF-5CEF-462E-9784-D3351BD6F4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2ADA772-195F-4CD9-AF30-B97A97AF52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070DFE5-4B2C-4138-91CF-ED2C59E4B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29192-AFCE-4469-956C-DD6A26323BD2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CB53ECC-4AC2-4B27-9749-053C1446F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B8563A-11AF-4B88-BA42-C8CE67CB1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583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84619-141E-439A-A906-5E765728A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B96285C-F925-4E60-B411-77F536F2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DBF8F-C836-45B2-B99E-5F8575814571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5F3382A-E3B9-4F39-A981-D40D85701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E45A57-235E-4D0C-9F19-1DC8223FB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840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3EC3895-6461-49D8-92C3-805432C4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2ED32-C5DC-4D3C-A25F-1D5F93D77969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9247659-A454-449C-845F-917A2C5B5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A28733-F704-418A-8F11-312531CB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440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B943FC-64FA-4F76-A291-F717BCA1A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FFE4A0-0369-4409-8213-79FF0C735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DA66F0-7DB7-4372-9F80-B6BACF1BB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E5F11C0-9319-45BB-BDB6-0660E84A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4851-3AFF-4C4A-8932-AEC563C7B274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C4375B-B97A-4388-9FFB-7E54E1D8C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EFA227-46A0-49E9-9B44-C829DD548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488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06F6C6-606A-48E7-93BB-3652214BB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65596B1-5C7D-4B23-A266-70DBDAC7FC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EDD1CE3-823A-41D0-8B07-D86F22C57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EF8BD61-C0A6-443E-BA9A-163E17CB3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90837-CE8E-44C3-AC8B-0895B1360BC7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D7D31E-33BC-45EA-9301-585DC7140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E60B6C2-C750-4FF4-BFB6-64412161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217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284DCA-1C8B-40E3-BE70-828B62952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75C3595-C932-4A40-97DE-47E76E4A01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4BFE6B-9542-4190-8AA7-4C730DC1D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6F21A-7023-405A-B53C-76939084BD13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D2A41E-A1A3-4C06-86DD-D1B0804A5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EA9DEA-C934-4923-BFB7-3FB1055A3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053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661BA69-4655-43B1-80C0-B055FE057C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54B0885-0514-4FE1-A88F-7A145394F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9918DF-48DA-4209-870C-43FA4D048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6F7BE-13D7-4D31-A19B-6F258E16A078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1B0161-64A5-4681-BED3-3A5D2C636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F35047-AB13-4273-8AF6-DDFB049F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281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1B369A-0C92-4854-B1BF-8514979BD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CA0576-5858-4945-AA58-266147257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9BBC22-0E09-4C3A-AA03-9074D9773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ACD544-2697-4F8C-AC2D-73D47FDB3DD3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02B4D3-5AF9-499D-9C65-FF96C17BB4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1152BB-6AA5-4DCA-B876-72235A50E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026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623303" y="5392016"/>
            <a:ext cx="5135559" cy="549338"/>
          </a:xfrm>
        </p:spPr>
        <p:txBody>
          <a:bodyPr>
            <a:normAutofit/>
          </a:bodyPr>
          <a:lstStyle/>
          <a:p>
            <a:pPr algn="l"/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Мирошниченко С. С.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031250" y="2017439"/>
            <a:ext cx="918410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Курсовой проект по теме 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/>
            </a:r>
            <a:b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“</a:t>
            </a:r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Разработка программного </a:t>
            </a:r>
            <a:r>
              <a:rPr lang="ru-RU" sz="36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модуля</a:t>
            </a:r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36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по покупке снаряжения</a:t>
            </a:r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”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048000" y="133252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ПРАВИТЕЛЬСТВО САНКТ-ПЕТЕРБУРГА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КОМИТЕТ ПО НАУКЕ И ВЫСШЕЙ ШКОЛЕ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Санкт-Петербургское государственное бюджетное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профессиональное образовательное учреждение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«ПЕТРОВСКИЙ КОЛЛЕДЖ»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(СПб ГБПОУ «Петровский колледж»)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Отделение информационных технологий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623303" y="5941354"/>
            <a:ext cx="43810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Руководитель: </a:t>
            </a:r>
            <a:r>
              <a:rPr lang="ru-RU" sz="2000" b="1" dirty="0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Т.С. Спиридонова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146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825500" y="0"/>
            <a:ext cx="6176625" cy="800100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1154069" y="1368562"/>
            <a:ext cx="10396728" cy="39742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– разработать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WPF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для автоматизации учета товаров.</a:t>
            </a:r>
          </a:p>
          <a:p>
            <a:pPr marL="0" indent="0">
              <a:buNone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pPr marL="514350" indent="-514350">
              <a:buAutoNum type="arabicPeriod"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Проанализировать рынок</a:t>
            </a:r>
          </a:p>
          <a:p>
            <a:pPr marL="514350" indent="-514350">
              <a:buAutoNum type="arabicPeriod"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базу данных</a:t>
            </a:r>
          </a:p>
          <a:p>
            <a:pPr marL="514350" indent="-514350">
              <a:buAutoNum type="arabicPeriod"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десктоп-приложение</a:t>
            </a:r>
          </a:p>
          <a:p>
            <a:pPr marL="514350" indent="-514350">
              <a:buAutoNum type="arabicPeriod"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Протестировать готовое комплексное решение 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9276426" y="6492875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sz="16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8341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46099" y="1125929"/>
            <a:ext cx="1089721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Название системы –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7Apex</a:t>
            </a:r>
          </a:p>
          <a:p>
            <a:pPr marL="0" indent="0"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деятельность – продажа. профессионального оборудования для походов и организация туров.</a:t>
            </a:r>
          </a:p>
          <a:p>
            <a:pPr marL="0" indent="0"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создания системы – автоматизация процессов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интернет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торговли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814057" y="-127000"/>
            <a:ext cx="539624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Описание предметной области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272337" y="6492875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sz="16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A95217E2-EE2B-4A96-2322-2BE7041C5C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205638"/>
              </p:ext>
            </p:extLst>
          </p:nvPr>
        </p:nvGraphicFramePr>
        <p:xfrm>
          <a:off x="636257" y="3960962"/>
          <a:ext cx="11035193" cy="2466470"/>
        </p:xfrm>
        <a:graphic>
          <a:graphicData uri="http://schemas.openxmlformats.org/drawingml/2006/table">
            <a:tbl>
              <a:tblPr/>
              <a:tblGrid>
                <a:gridCol w="3469845">
                  <a:extLst>
                    <a:ext uri="{9D8B030D-6E8A-4147-A177-3AD203B41FA5}">
                      <a16:colId xmlns:a16="http://schemas.microsoft.com/office/drawing/2014/main" val="2219828079"/>
                    </a:ext>
                  </a:extLst>
                </a:gridCol>
                <a:gridCol w="7565348">
                  <a:extLst>
                    <a:ext uri="{9D8B030D-6E8A-4147-A177-3AD203B41FA5}">
                      <a16:colId xmlns:a16="http://schemas.microsoft.com/office/drawing/2014/main" val="2150848850"/>
                    </a:ext>
                  </a:extLst>
                </a:gridCol>
              </a:tblGrid>
              <a:tr h="1068364">
                <a:tc>
                  <a:txBody>
                    <a:bodyPr/>
                    <a:lstStyle/>
                    <a:p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Администратор</a:t>
                      </a:r>
                      <a:endParaRPr lang="ru-RU" sz="1400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Полный доступ: добавление, редактирование, удаление товаров, управление пользователями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205057"/>
                  </a:ext>
                </a:extLst>
              </a:tr>
              <a:tr h="699053">
                <a:tc>
                  <a:txBody>
                    <a:bodyPr/>
                    <a:lstStyle/>
                    <a:p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Менеджер</a:t>
                      </a:r>
                      <a:endParaRPr lang="ru-RU" sz="1400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Добавление и редактирование товаров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129245"/>
                  </a:ext>
                </a:extLst>
              </a:tr>
              <a:tr h="699053">
                <a:tc>
                  <a:txBody>
                    <a:bodyPr/>
                    <a:lstStyle/>
                    <a:p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Пользователь</a:t>
                      </a:r>
                      <a:endParaRPr lang="ru-RU" sz="1400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Просмотр товаров, оформление заказов, личный кабинет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607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6693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01DD46-C366-90D6-01B8-E7C4C06FF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4767198" cy="906267"/>
          </a:xfrm>
        </p:spPr>
        <p:txBody>
          <a:bodyPr>
            <a:no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существующих аналогов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79A6D5AF-CC6F-370D-EC45-43FD1C5E5E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6635" y="2158668"/>
            <a:ext cx="4505194" cy="2522908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52E6E90-7770-5C15-5BB6-E666853B3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sz="18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663F212-A3C3-6744-9728-17B945568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763" y="1892162"/>
            <a:ext cx="3317308" cy="305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940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825500" y="-38100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Инструментальные и системные программные средства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>
          <a:xfrm>
            <a:off x="9441403" y="6492875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sz="16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508" y="2676918"/>
            <a:ext cx="5354176" cy="1793831"/>
          </a:xfrm>
          <a:prstGeom prst="rect">
            <a:avLst/>
          </a:prstGeom>
        </p:spPr>
      </p:pic>
      <p:pic>
        <p:nvPicPr>
          <p:cNvPr id="1026" name="Picture 2" descr="Microsoft sql server: преимущества и недостатки - Новости Южно Сахалинска -  astv.r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5164" y="2233751"/>
            <a:ext cx="3297839" cy="268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2388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1E8D81-4D28-4FA6-086D-EAAEC7EAE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0" y="0"/>
            <a:ext cx="5557729" cy="879823"/>
          </a:xfrm>
        </p:spPr>
        <p:txBody>
          <a:bodyPr>
            <a:norm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Проектирование ПО информационной системы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7BDD84F-B17A-1133-E88E-B2A72C9FD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sz="16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CA38F36-5323-63EB-2549-C8EF8FBD3A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471" y="931522"/>
            <a:ext cx="8432376" cy="53361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3634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685700" y="25975"/>
            <a:ext cx="55119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100" dirty="0">
                <a:solidFill>
                  <a:schemeClr val="bg1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Функции </a:t>
            </a:r>
            <a:r>
              <a:rPr lang="en-US" sz="3100" dirty="0">
                <a:solidFill>
                  <a:schemeClr val="bg1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desktop </a:t>
            </a:r>
            <a:r>
              <a:rPr lang="ru-RU" sz="3100" dirty="0">
                <a:solidFill>
                  <a:schemeClr val="bg1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приложения</a:t>
            </a:r>
            <a:endParaRPr lang="ru-RU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51691"/>
              </p:ext>
            </p:extLst>
          </p:nvPr>
        </p:nvGraphicFramePr>
        <p:xfrm>
          <a:off x="1925054" y="1493718"/>
          <a:ext cx="7957264" cy="4818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7237">
                  <a:extLst>
                    <a:ext uri="{9D8B030D-6E8A-4147-A177-3AD203B41FA5}">
                      <a16:colId xmlns:a16="http://schemas.microsoft.com/office/drawing/2014/main" val="2793986795"/>
                    </a:ext>
                  </a:extLst>
                </a:gridCol>
                <a:gridCol w="6420027">
                  <a:extLst>
                    <a:ext uri="{9D8B030D-6E8A-4147-A177-3AD203B41FA5}">
                      <a16:colId xmlns:a16="http://schemas.microsoft.com/office/drawing/2014/main" val="568816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Функция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522701"/>
                  </a:ext>
                </a:extLst>
              </a:tr>
              <a:tr h="149005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Просмотр каталога с фильтрацией </a:t>
                      </a:r>
                      <a:r>
                        <a:rPr lang="ru-RU" sz="1800" b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и поиском</a:t>
                      </a:r>
                      <a:endParaRPr lang="ru-RU" sz="1800" b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663828575"/>
                  </a:ext>
                </a:extLst>
              </a:tr>
              <a:tr h="74062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Поиск товаров</a:t>
                      </a:r>
                      <a:r>
                        <a:rPr lang="ru-RU" sz="1800" b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 названию и описанию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727301"/>
                  </a:ext>
                </a:extLst>
              </a:tr>
              <a:tr h="74062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Сортировка товаров</a:t>
                      </a:r>
                      <a:r>
                        <a:rPr lang="ru-RU" sz="1800" b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(по цене, алфавиту, популярности)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499615"/>
                  </a:ext>
                </a:extLst>
              </a:tr>
              <a:tr h="74062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Регистрация и авторизация пользователей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431005"/>
                  </a:ext>
                </a:extLst>
              </a:tr>
              <a:tr h="74062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Добавление товаров корзину и формирование чека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7121071"/>
                  </a:ext>
                </a:extLst>
              </a:tr>
            </a:tbl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3224463" y="1124386"/>
            <a:ext cx="50066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 веб-приложения (клиентская часть)</a:t>
            </a:r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>
          <a:xfrm>
            <a:off x="9448800" y="6498789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sz="16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079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1668" y="-256312"/>
            <a:ext cx="10515600" cy="1325563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542" b="3221"/>
          <a:stretch/>
        </p:blipFill>
        <p:spPr>
          <a:xfrm>
            <a:off x="1066443" y="916301"/>
            <a:ext cx="4082606" cy="5468710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9448800" y="6509237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sz="16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l="2239"/>
          <a:stretch/>
        </p:blipFill>
        <p:spPr>
          <a:xfrm>
            <a:off x="6489576" y="978445"/>
            <a:ext cx="4342233" cy="546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804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1668" y="-256312"/>
            <a:ext cx="10515600" cy="1325563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9448800" y="6509237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sz="16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668" y="876299"/>
            <a:ext cx="10515600" cy="549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292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37215C-FF62-B8D1-8CE3-ECA54CA20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887" y="-252413"/>
            <a:ext cx="10515600" cy="1325563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91BB9CE8-0729-E97F-38D9-DECCD6724E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9212" y="907920"/>
            <a:ext cx="8272950" cy="558495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A7DE575-49FD-6909-D52D-757774815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sz="16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2974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B3EC72-CF89-4086-3AC4-C57602E59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099" y="-297657"/>
            <a:ext cx="10447229" cy="1325563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D8F3A216-7209-6EE0-F562-9635AB8631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869" y="1071562"/>
            <a:ext cx="5850569" cy="560387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0BEBF48-5AAF-C16F-9167-F3586BBE4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66636" y="6492875"/>
            <a:ext cx="2725364" cy="365125"/>
          </a:xfrm>
        </p:spPr>
        <p:txBody>
          <a:bodyPr/>
          <a:lstStyle/>
          <a:p>
            <a:fld id="{D57F1E4F-1CFF-5643-939E-217C01CDF565}" type="slidenum">
              <a:rPr lang="en-US" sz="16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108" y="1071561"/>
            <a:ext cx="5274926" cy="542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1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-268769"/>
            <a:ext cx="10515600" cy="1325563"/>
          </a:xfrm>
        </p:spPr>
        <p:txBody>
          <a:bodyPr>
            <a:normAutofit/>
          </a:bodyPr>
          <a:lstStyle/>
          <a:p>
            <a:r>
              <a:rPr lang="ru-RU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sz="5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24616" y="2506662"/>
            <a:ext cx="10515600" cy="19256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разработал программное решение, все поставленные задачи были выполнены.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sz="16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080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623303" y="5392016"/>
            <a:ext cx="5135559" cy="549338"/>
          </a:xfrm>
        </p:spPr>
        <p:txBody>
          <a:bodyPr>
            <a:normAutofit/>
          </a:bodyPr>
          <a:lstStyle/>
          <a:p>
            <a:pPr algn="l"/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Мирошниченко С. С.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031250" y="2017439"/>
            <a:ext cx="918410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Курсовой проект по теме 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/>
            </a:r>
            <a:b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“</a:t>
            </a:r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Разработка программного </a:t>
            </a:r>
            <a:r>
              <a:rPr lang="ru-RU" sz="36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модуля</a:t>
            </a:r>
            <a:r>
              <a:rPr lang="ru-RU" sz="3600" b="1" dirty="0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36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по покупке снаряжения</a:t>
            </a:r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”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048000" y="133252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ПРАВИТЕЛЬСТВО САНКТ-ПЕТЕРБУРГА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КОМИТЕТ ПО НАУКЕ И ВЫСШЕЙ ШКОЛЕ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Санкт-Петербургское государственное бюджетное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профессиональное образовательное учреждение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«ПЕТРОВСКИЙ КОЛЛЕДЖ»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(СПб ГБПОУ «Петровский колледж»)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ru-RU" sz="1600" dirty="0">
                <a:solidFill>
                  <a:srgbClr val="0070C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Отделение информационных технологий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623303" y="5941354"/>
            <a:ext cx="48026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Руководитель: </a:t>
            </a:r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Т.С. Спиридонова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92281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1" id="{9F4CC347-29A3-4293-864F-E25A6E169458}" vid="{F86C687B-A777-40CC-9C0C-5B47488FAB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7451</TotalTime>
  <Words>277</Words>
  <Application>Microsoft Office PowerPoint</Application>
  <PresentationFormat>Широкоэкранный</PresentationFormat>
  <Paragraphs>71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quote-cjk-patch</vt:lpstr>
      <vt:lpstr>Times New Roman</vt:lpstr>
      <vt:lpstr>Verdana</vt:lpstr>
      <vt:lpstr>Тема1</vt:lpstr>
      <vt:lpstr>Презентация PowerPoint</vt:lpstr>
      <vt:lpstr>Цель и задачи</vt:lpstr>
      <vt:lpstr>Презентация PowerPoint</vt:lpstr>
      <vt:lpstr>Анализ существующих аналогов</vt:lpstr>
      <vt:lpstr>Презентация PowerPoint</vt:lpstr>
      <vt:lpstr>Проектирование ПО информационной системы</vt:lpstr>
      <vt:lpstr>Презентация PowerPoint</vt:lpstr>
      <vt:lpstr>Программа</vt:lpstr>
      <vt:lpstr>Программа</vt:lpstr>
      <vt:lpstr>Программа</vt:lpstr>
      <vt:lpstr>Программа</vt:lpstr>
      <vt:lpstr>Заключение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Маркетинговые исследования рынка образовательных услуг</dc:title>
  <dc:creator>Сидякина Анастасия Алексеевна</dc:creator>
  <cp:lastModifiedBy>Мирошниченко Станислав Сергеевич</cp:lastModifiedBy>
  <cp:revision>115</cp:revision>
  <dcterms:created xsi:type="dcterms:W3CDTF">2023-01-30T07:02:12Z</dcterms:created>
  <dcterms:modified xsi:type="dcterms:W3CDTF">2026-06-18T10:35:21Z</dcterms:modified>
</cp:coreProperties>
</file>